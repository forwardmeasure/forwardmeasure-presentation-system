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 Titl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783080"/>
            <a:ext cx="6400800" cy="6949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Presentation title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2706624"/>
            <a:ext cx="5623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Subtitle or context</a:t>
            </a:r>
            <a:endParaRPr lang="en-US" sz="1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40080" y="3337560"/>
            <a:ext cx="493776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Presenter / organisation / date</a:t>
            </a:r>
            <a:endParaRPr lang="en-US" sz="800" dirty="0"/>
          </a:p>
        </p:txBody>
      </p:sp>
      <p:sp>
        <p:nvSpPr>
          <p:cNvPr id="7" name="Shape 2"/>
          <p:cNvSpPr/>
          <p:nvPr/>
        </p:nvSpPr>
        <p:spPr>
          <a:xfrm>
            <a:off x="9253728" y="1207008"/>
            <a:ext cx="621792" cy="44348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985248" y="1207008"/>
            <a:ext cx="310896" cy="4434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0405872" y="1207008"/>
            <a:ext cx="109728" cy="4434840"/>
          </a:xfrm>
          <a:prstGeom prst="rect">
            <a:avLst/>
          </a:prstGeom>
          <a:solidFill>
            <a:srgbClr val="52525B"/>
          </a:solidFill>
          <a:ln w="12700">
            <a:solidFill>
              <a:srgbClr val="52525B">
                <a:alpha val="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Cont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300472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51448" y="1627632"/>
            <a:ext cx="5300472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79222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5A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COLUMN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434328" y="179222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COLUMN</a:t>
            </a:r>
            <a:endParaRPr lang="en-US" sz="700" dirty="0"/>
          </a:p>
        </p:txBody>
      </p:sp>
      <p:sp>
        <p:nvSpPr>
          <p:cNvPr id="14" name="Text 11"/>
          <p:cNvSpPr/>
          <p:nvPr>
            <p:ph idx="112" type="body" hasCustomPrompt="1"/>
          </p:nvPr>
        </p:nvSpPr>
        <p:spPr>
          <a:xfrm>
            <a:off x="841248" y="2139696"/>
            <a:ext cx="4898136" cy="4087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  <p:sp>
        <p:nvSpPr>
          <p:cNvPr id="15" name="Text 11"/>
          <p:cNvSpPr/>
          <p:nvPr>
            <p:ph idx="113" type="body" hasCustomPrompt="1"/>
          </p:nvPr>
        </p:nvSpPr>
        <p:spPr>
          <a:xfrm>
            <a:off x="6452616" y="2139696"/>
            <a:ext cx="4898136" cy="4087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27024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39044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content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5861304"/>
            <a:ext cx="10911840" cy="0"/>
          </a:xfrm>
          <a:prstGeom prst="line">
            <a:avLst/>
          </a:prstGeom>
          <a:noFill/>
          <a:ln w="7620">
            <a:solidFill>
              <a:srgbClr val="DCDCD6"/>
            </a:solidFill>
            <a:prstDash val="solid"/>
          </a:ln>
        </p:spPr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640080" y="5952744"/>
            <a:ext cx="10911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Caption / source / caveat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Assessm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51448" y="1627632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962656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1448" y="2962656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4" name="Text 11"/>
          <p:cNvSpPr/>
          <p:nvPr>
            <p:ph idx="112" type="body" hasCustomPrompt="1"/>
          </p:nvPr>
        </p:nvSpPr>
        <p:spPr>
          <a:xfrm>
            <a:off x="804672" y="1792224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15" name="Text 11"/>
          <p:cNvSpPr/>
          <p:nvPr>
            <p:ph idx="113" type="body" hasCustomPrompt="1"/>
          </p:nvPr>
        </p:nvSpPr>
        <p:spPr>
          <a:xfrm>
            <a:off x="6416040" y="1792224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16" name="Text 11"/>
          <p:cNvSpPr/>
          <p:nvPr>
            <p:ph idx="114" type="body" hasCustomPrompt="1"/>
          </p:nvPr>
        </p:nvSpPr>
        <p:spPr>
          <a:xfrm>
            <a:off x="804672" y="3127248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17" name="Text 11"/>
          <p:cNvSpPr/>
          <p:nvPr>
            <p:ph idx="115" type="body" hasCustomPrompt="1"/>
          </p:nvPr>
        </p:nvSpPr>
        <p:spPr>
          <a:xfrm>
            <a:off x="6416040" y="3127248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action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Vignett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288036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0" y="1627632"/>
            <a:ext cx="7711440" cy="106070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0" y="2962656"/>
            <a:ext cx="7711440" cy="106070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Text 10"/>
          <p:cNvSpPr/>
          <p:nvPr>
            <p:ph idx="111" type="body" hasCustomPrompt="1"/>
          </p:nvPr>
        </p:nvSpPr>
        <p:spPr>
          <a:xfrm>
            <a:off x="896112" y="1938528"/>
            <a:ext cx="23317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Quotation or human context</a:t>
            </a:r>
            <a:endParaRPr lang="en-US" sz="1400" dirty="0"/>
          </a:p>
        </p:txBody>
      </p:sp>
      <p:sp>
        <p:nvSpPr>
          <p:cNvPr id="14" name="Text 10"/>
          <p:cNvSpPr/>
          <p:nvPr>
            <p:ph idx="112" type="body" hasCustomPrompt="1"/>
          </p:nvPr>
        </p:nvSpPr>
        <p:spPr>
          <a:xfrm>
            <a:off x="4069080" y="1856232"/>
            <a:ext cx="729996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</a:t>
            </a:r>
            <a:endParaRPr lang="en-US" sz="1000" dirty="0"/>
          </a:p>
        </p:txBody>
      </p:sp>
      <p:sp>
        <p:nvSpPr>
          <p:cNvPr id="15" name="Text 10"/>
          <p:cNvSpPr/>
          <p:nvPr>
            <p:ph idx="113" type="body" hasCustomPrompt="1"/>
          </p:nvPr>
        </p:nvSpPr>
        <p:spPr>
          <a:xfrm>
            <a:off x="4069080" y="3200400"/>
            <a:ext cx="729996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Judgement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vidence Exhibi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008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1627632"/>
            <a:ext cx="4191000" cy="4764024"/>
          </a:xfrm>
          <a:prstGeom prst="rect">
            <a:avLst/>
          </a:prstGeom>
          <a:solidFill>
            <a:srgbClr val="FBFB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9436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excerpt / document / image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571232" y="1856232"/>
            <a:ext cx="37338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68680" y="3246120"/>
            <a:ext cx="10454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10512"/>
            <a:ext cx="10454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 1 / Event 2 / Event 3</a:t>
            </a:r>
            <a:endParaRPr lang="en-US" sz="11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868680" y="3703320"/>
            <a:ext cx="10454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Implications and open questions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p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008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1627632"/>
            <a:ext cx="41910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9436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/ geography / route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571232" y="1856232"/>
            <a:ext cx="37338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tity Network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network diagram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action Patter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85216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12280" y="1627632"/>
            <a:ext cx="47396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39496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022592" y="1856232"/>
            <a:ext cx="42824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tecture Diagram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diagram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l Card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0992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21904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0992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21904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6" name="Text 13"/>
          <p:cNvSpPr/>
          <p:nvPr>
            <p:ph idx="114" type="body" hasCustomPrompt="1"/>
          </p:nvPr>
        </p:nvSpPr>
        <p:spPr>
          <a:xfrm>
            <a:off x="822960" y="1810512"/>
            <a:ext cx="105460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 / Inputs / Outputs / Limits / Validation / Owner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sk-Control Tabl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| Control | Owner | State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dings and Confidenc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922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2360" y="1627632"/>
            <a:ext cx="4099560" cy="4764024"/>
          </a:xfrm>
          <a:prstGeom prst="rect">
            <a:avLst/>
          </a:prstGeom>
          <a:solidFill>
            <a:srgbClr val="FBFB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59536" y="1828800"/>
            <a:ext cx="6035040" cy="436168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662672" y="1856232"/>
            <a:ext cx="364236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commended Actio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1417320"/>
          </a:xfrm>
          <a:prstGeom prst="rect">
            <a:avLst/>
          </a:prstGeom>
          <a:solidFill>
            <a:srgbClr val="FCE7DD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364992"/>
            <a:ext cx="10911840" cy="302666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10454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action</a:t>
            </a:r>
            <a:endParaRPr lang="en-US" sz="16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868680" y="3593592"/>
            <a:ext cx="10454640" cy="2615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Appendix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ID | Type | Extracted item | Use | Restriction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41832"/>
            <a:ext cx="45720" cy="384048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41832"/>
            <a:ext cx="45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993392"/>
            <a:ext cx="64008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title</a:t>
            </a:r>
            <a:endParaRPr lang="en-US" sz="26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2697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description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1783080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and Human Systems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40080" y="270662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 presentation system for evidence-led human, operational, and technical narratives.</a:t>
            </a:r>
            <a:endParaRPr lang="en-US" sz="1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40080" y="33375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/ v0.3.2 / Roboto + orange-teal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content</a:t>
            </a:r>
            <a:endParaRPr lang="en-US" sz="24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bullet is a real editable bullet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Press Enter to create the next bullet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Tab and Shift+Tab for nested bullet levels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title, rule and content box share the same grid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Two-column content</a:t>
            </a:r>
            <a:endParaRPr lang="en-US" sz="2400" dirty="0"/>
          </a:p>
        </p:txBody>
      </p:sp>
      <p:sp>
        <p:nvSpPr>
          <p:cNvPr id="3" name="Text 11"/>
          <p:cNvSpPr/>
          <p:nvPr>
            <p:ph idx="112" type="body" hasCustomPrompt="1"/>
          </p:nvPr>
        </p:nvSpPr>
        <p:spPr>
          <a:xfrm>
            <a:off x="841248" y="2139696"/>
            <a:ext cx="4898136" cy="4087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column bullet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Supporting point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Qualification</a:t>
            </a:r>
            <a:endParaRPr lang="en-US" sz="1500" dirty="0"/>
          </a:p>
        </p:txBody>
      </p:sp>
      <p:sp>
        <p:nvSpPr>
          <p:cNvPr id="4" name="Text 11"/>
          <p:cNvSpPr/>
          <p:nvPr>
            <p:ph idx="113" type="body" hasCustomPrompt="1"/>
          </p:nvPr>
        </p:nvSpPr>
        <p:spPr>
          <a:xfrm>
            <a:off x="6452616" y="2139696"/>
            <a:ext cx="4898136" cy="4087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column bullet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or contrast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19933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Intelligence briefing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4008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assessments, confidence language, and intelligence gaps.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assessment</a:t>
            </a:r>
            <a:endParaRPr lang="en-US" sz="2400" dirty="0"/>
          </a:p>
        </p:txBody>
      </p:sp>
      <p:sp>
        <p:nvSpPr>
          <p:cNvPr id="3" name="Text 11"/>
          <p:cNvSpPr/>
          <p:nvPr>
            <p:ph idx="112" type="body" hasCustomPrompt="1"/>
          </p:nvPr>
        </p:nvSpPr>
        <p:spPr>
          <a:xfrm>
            <a:off x="804672" y="1792224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indicates recurrent use of shared addresses, phones, and payment rails.</a:t>
            </a:r>
            <a:endParaRPr lang="en-US" sz="1000" dirty="0"/>
          </a:p>
        </p:txBody>
      </p:sp>
      <p:sp>
        <p:nvSpPr>
          <p:cNvPr id="4" name="Text 11"/>
          <p:cNvSpPr/>
          <p:nvPr>
            <p:ph idx="113" type="body" hasCustomPrompt="1"/>
          </p:nvPr>
        </p:nvSpPr>
        <p:spPr>
          <a:xfrm>
            <a:off x="6416040" y="1792224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is consistent with coordinated facilitation rather than incidental overlap.</a:t>
            </a:r>
            <a:endParaRPr lang="en-US" sz="1000" dirty="0"/>
          </a:p>
        </p:txBody>
      </p:sp>
      <p:sp>
        <p:nvSpPr>
          <p:cNvPr id="5" name="Text 11"/>
          <p:cNvSpPr/>
          <p:nvPr>
            <p:ph idx="114" type="body" hasCustomPrompt="1"/>
          </p:nvPr>
        </p:nvSpPr>
        <p:spPr>
          <a:xfrm>
            <a:off x="804672" y="3127248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Several entities may fragment activity and obscure beneficial control.</a:t>
            </a:r>
            <a:endParaRPr lang="en-US" sz="1000" dirty="0"/>
          </a:p>
        </p:txBody>
      </p:sp>
      <p:sp>
        <p:nvSpPr>
          <p:cNvPr id="6" name="Text 11"/>
          <p:cNvSpPr/>
          <p:nvPr>
            <p:ph idx="115" type="body" hasCustomPrompt="1"/>
          </p:nvPr>
        </p:nvSpPr>
        <p:spPr>
          <a:xfrm>
            <a:off x="6416040" y="3127248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graph expansion, source validation, and human review.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Systems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98424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367588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36752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05916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75080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012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315D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4340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5252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F15A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2668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B882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41832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1919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checks</a:t>
            </a:r>
            <a:endParaRPr lang="en-US" sz="24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Orange and teal motif preserved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Roboto used for titles and body text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Content and Two-Column Content use editable bullets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Starter slides include visible page numbers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Layout menu contains the complete named layout family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OKS Google Slides starter v0.3.2</dc:title>
  <dc:subject>Evidence and Human Systems v0.3.2</dc:subject>
  <dc:creator>OKS Contributors</dc:creator>
  <cp:lastModifiedBy>OKS Contributors</cp:lastModifiedBy>
  <cp:revision>1</cp:revision>
  <dcterms:created xsi:type="dcterms:W3CDTF">2026-08-03T16:46:27Z</dcterms:created>
  <dcterms:modified xsi:type="dcterms:W3CDTF">2026-08-03T16:46:27Z</dcterms:modified>
</cp:coreProperties>
</file>