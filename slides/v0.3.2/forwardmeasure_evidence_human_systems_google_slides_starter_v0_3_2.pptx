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M Title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1783080"/>
            <a:ext cx="6400800" cy="6949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3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Presentation title</a:t>
            </a:r>
            <a:endParaRPr lang="en-US" sz="30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640080" y="2706624"/>
            <a:ext cx="56235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Subtitle or context</a:t>
            </a:r>
            <a:endParaRPr lang="en-US" sz="14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640080" y="3337560"/>
            <a:ext cx="493776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Presenter / organisation / date</a:t>
            </a:r>
            <a:endParaRPr lang="en-US" sz="800" dirty="0"/>
          </a:p>
        </p:txBody>
      </p:sp>
      <p:sp>
        <p:nvSpPr>
          <p:cNvPr id="7" name="Shape 2"/>
          <p:cNvSpPr/>
          <p:nvPr/>
        </p:nvSpPr>
        <p:spPr>
          <a:xfrm>
            <a:off x="9253728" y="1207008"/>
            <a:ext cx="621792" cy="443484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9985248" y="1207008"/>
            <a:ext cx="310896" cy="4434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0405872" y="1207008"/>
            <a:ext cx="109728" cy="4434840"/>
          </a:xfrm>
          <a:prstGeom prst="rect">
            <a:avLst/>
          </a:prstGeom>
          <a:solidFill>
            <a:srgbClr val="52525B"/>
          </a:solidFill>
          <a:ln w="12700">
            <a:solidFill>
              <a:srgbClr val="52525B">
                <a:alpha val="0"/>
              </a:srgbClr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Content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1091184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841248" y="1810512"/>
            <a:ext cx="10509504" cy="4434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buSzPct val="100000"/>
              <a:buChar char="•"/>
              <a:defRPr lang="en-US" sz="17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bullet text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another bullet</a:t>
            </a:r>
            <a:endParaRPr lang="en-US" sz="17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umn Content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5300472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51448" y="1627632"/>
            <a:ext cx="5300472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179222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15A2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LEFT COLUMN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6434328" y="1792224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D94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RIGHT COLUMN</a:t>
            </a:r>
            <a:endParaRPr lang="en-US" sz="700" dirty="0"/>
          </a:p>
        </p:txBody>
      </p:sp>
      <p:sp>
        <p:nvSpPr>
          <p:cNvPr id="14" name="Text 11"/>
          <p:cNvSpPr/>
          <p:nvPr>
            <p:ph idx="112" type="body" hasCustomPrompt="1"/>
          </p:nvPr>
        </p:nvSpPr>
        <p:spPr>
          <a:xfrm>
            <a:off x="841248" y="2139696"/>
            <a:ext cx="4898136" cy="40873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buSzPct val="100000"/>
              <a:buChar char="•"/>
              <a:def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bullet text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another bullet</a:t>
            </a:r>
            <a:endParaRPr lang="en-US" sz="1500" dirty="0"/>
          </a:p>
        </p:txBody>
      </p:sp>
      <p:sp>
        <p:nvSpPr>
          <p:cNvPr id="15" name="Text 11"/>
          <p:cNvSpPr/>
          <p:nvPr>
            <p:ph idx="113" type="body" hasCustomPrompt="1"/>
          </p:nvPr>
        </p:nvSpPr>
        <p:spPr>
          <a:xfrm>
            <a:off x="6452616" y="2139696"/>
            <a:ext cx="4898136" cy="40873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buSzPct val="100000"/>
              <a:buChar char="•"/>
              <a:def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bullet text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another bullet</a:t>
            </a:r>
            <a:endParaRPr lang="en-US" sz="15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10911840" cy="4270248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841248" y="1810512"/>
            <a:ext cx="10509504" cy="390448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content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40080" y="5861304"/>
            <a:ext cx="10911840" cy="0"/>
          </a:xfrm>
          <a:prstGeom prst="line">
            <a:avLst/>
          </a:prstGeom>
          <a:noFill/>
          <a:ln w="7620">
            <a:solidFill>
              <a:srgbClr val="DCDCD6"/>
            </a:solidFill>
            <a:prstDash val="solid"/>
          </a:ln>
        </p:spPr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640080" y="5952744"/>
            <a:ext cx="1091184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8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8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Caption / source / caveat</a:t>
            </a:r>
            <a:endParaRPr lang="en-US" sz="8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ecutive Assessment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5300472" cy="1024128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51448" y="1627632"/>
            <a:ext cx="5300472" cy="1024128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2962656"/>
            <a:ext cx="5300472" cy="1024128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51448" y="2962656"/>
            <a:ext cx="5300472" cy="1024128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4" name="Text 11"/>
          <p:cNvSpPr/>
          <p:nvPr>
            <p:ph idx="112" type="body" hasCustomPrompt="1"/>
          </p:nvPr>
        </p:nvSpPr>
        <p:spPr>
          <a:xfrm>
            <a:off x="804672" y="1792224"/>
            <a:ext cx="48920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Observation</a:t>
            </a:r>
            <a:endParaRPr lang="en-US" sz="1000" dirty="0"/>
          </a:p>
        </p:txBody>
      </p:sp>
      <p:sp>
        <p:nvSpPr>
          <p:cNvPr id="15" name="Text 11"/>
          <p:cNvSpPr/>
          <p:nvPr>
            <p:ph idx="113" type="body" hasCustomPrompt="1"/>
          </p:nvPr>
        </p:nvSpPr>
        <p:spPr>
          <a:xfrm>
            <a:off x="6416040" y="1792224"/>
            <a:ext cx="48920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Assessment</a:t>
            </a:r>
            <a:endParaRPr lang="en-US" sz="1000" dirty="0"/>
          </a:p>
        </p:txBody>
      </p:sp>
      <p:sp>
        <p:nvSpPr>
          <p:cNvPr id="16" name="Text 11"/>
          <p:cNvSpPr/>
          <p:nvPr>
            <p:ph idx="114" type="body" hasCustomPrompt="1"/>
          </p:nvPr>
        </p:nvSpPr>
        <p:spPr>
          <a:xfrm>
            <a:off x="804672" y="3127248"/>
            <a:ext cx="48920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Hypothesis</a:t>
            </a:r>
            <a:endParaRPr lang="en-US" sz="1000" dirty="0"/>
          </a:p>
        </p:txBody>
      </p:sp>
      <p:sp>
        <p:nvSpPr>
          <p:cNvPr id="17" name="Text 11"/>
          <p:cNvSpPr/>
          <p:nvPr>
            <p:ph idx="115" type="body" hasCustomPrompt="1"/>
          </p:nvPr>
        </p:nvSpPr>
        <p:spPr>
          <a:xfrm>
            <a:off x="6416040" y="3127248"/>
            <a:ext cx="48920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Recommended action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Vignette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288036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840480" y="1627632"/>
            <a:ext cx="7711440" cy="106070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840480" y="2962656"/>
            <a:ext cx="7711440" cy="106070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3" name="Text 10"/>
          <p:cNvSpPr/>
          <p:nvPr>
            <p:ph idx="111" type="body" hasCustomPrompt="1"/>
          </p:nvPr>
        </p:nvSpPr>
        <p:spPr>
          <a:xfrm>
            <a:off x="896112" y="1938528"/>
            <a:ext cx="23317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Quotation or human context</a:t>
            </a:r>
            <a:endParaRPr lang="en-US" sz="1400" dirty="0"/>
          </a:p>
        </p:txBody>
      </p:sp>
      <p:sp>
        <p:nvSpPr>
          <p:cNvPr id="14" name="Text 10"/>
          <p:cNvSpPr/>
          <p:nvPr>
            <p:ph idx="112" type="body" hasCustomPrompt="1"/>
          </p:nvPr>
        </p:nvSpPr>
        <p:spPr>
          <a:xfrm>
            <a:off x="4069080" y="1856232"/>
            <a:ext cx="7299960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Context</a:t>
            </a:r>
            <a:endParaRPr lang="en-US" sz="1000" dirty="0"/>
          </a:p>
        </p:txBody>
      </p:sp>
      <p:sp>
        <p:nvSpPr>
          <p:cNvPr id="15" name="Text 10"/>
          <p:cNvSpPr/>
          <p:nvPr>
            <p:ph idx="113" type="body" hasCustomPrompt="1"/>
          </p:nvPr>
        </p:nvSpPr>
        <p:spPr>
          <a:xfrm>
            <a:off x="4069080" y="3200400"/>
            <a:ext cx="7299960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Judgement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vidence Exhibit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640080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60920" y="1627632"/>
            <a:ext cx="4191000" cy="4764024"/>
          </a:xfrm>
          <a:prstGeom prst="rect">
            <a:avLst/>
          </a:prstGeom>
          <a:solidFill>
            <a:srgbClr val="FBFB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>
            <p:ph idx="110" type="body" hasCustomPrompt="1"/>
          </p:nvPr>
        </p:nvSpPr>
        <p:spPr>
          <a:xfrm>
            <a:off x="868680" y="1856232"/>
            <a:ext cx="594360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Evidence excerpt / document / image</a:t>
            </a:r>
            <a:endParaRPr lang="en-US" sz="1200" dirty="0"/>
          </a:p>
        </p:txBody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7571232" y="1856232"/>
            <a:ext cx="373380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9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Observation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Confidence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Limits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868680" y="3246120"/>
            <a:ext cx="104546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868680" y="1810512"/>
            <a:ext cx="104546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Event 1 / Event 2 / Event 3</a:t>
            </a:r>
            <a:endParaRPr lang="en-US" sz="1100" dirty="0"/>
          </a:p>
        </p:txBody>
      </p:sp>
      <p:sp>
        <p:nvSpPr>
          <p:cNvPr id="12" name="Text 8"/>
          <p:cNvSpPr/>
          <p:nvPr>
            <p:ph idx="110" type="body" hasCustomPrompt="1"/>
          </p:nvPr>
        </p:nvSpPr>
        <p:spPr>
          <a:xfrm>
            <a:off x="868680" y="3703320"/>
            <a:ext cx="104546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Implications and open questions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p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640080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60920" y="1627632"/>
            <a:ext cx="419100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2" name="Text 9"/>
          <p:cNvSpPr/>
          <p:nvPr>
            <p:ph idx="110" type="body" hasCustomPrompt="1"/>
          </p:nvPr>
        </p:nvSpPr>
        <p:spPr>
          <a:xfrm>
            <a:off x="868680" y="1856232"/>
            <a:ext cx="594360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Map / geography / route</a:t>
            </a:r>
            <a:endParaRPr lang="en-US" sz="1200" dirty="0"/>
          </a:p>
        </p:txBody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7571232" y="1856232"/>
            <a:ext cx="373380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buSzPct val="100000"/>
              <a:buChar char="•"/>
              <a:defRPr lang="en-US" sz="13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bullet text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another bullet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tity Network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1091184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868680" y="1856232"/>
            <a:ext cx="1045464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network diagram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saction Pattern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585216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12280" y="1627632"/>
            <a:ext cx="473964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2" name="Text 9"/>
          <p:cNvSpPr/>
          <p:nvPr>
            <p:ph idx="110" type="body" hasCustomPrompt="1"/>
          </p:nvPr>
        </p:nvSpPr>
        <p:spPr>
          <a:xfrm>
            <a:off x="868680" y="1856232"/>
            <a:ext cx="539496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Chart</a:t>
            </a:r>
            <a:endParaRPr lang="en-US" sz="1200" dirty="0"/>
          </a:p>
        </p:txBody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7022592" y="1856232"/>
            <a:ext cx="428244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buSzPct val="100000"/>
              <a:buChar char="•"/>
              <a:defRPr lang="en-US" sz="13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bullet text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another bullet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tecture Diagram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1091184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868680" y="1856232"/>
            <a:ext cx="1045464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diagram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del Card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3430016" cy="1143000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80992" y="1627632"/>
            <a:ext cx="3430016" cy="1143000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121904" y="1627632"/>
            <a:ext cx="3430016" cy="1143000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" y="3090672"/>
            <a:ext cx="3430016" cy="1143000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80992" y="3090672"/>
            <a:ext cx="3430016" cy="1143000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121904" y="3090672"/>
            <a:ext cx="3430016" cy="1143000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6" name="Text 13"/>
          <p:cNvSpPr/>
          <p:nvPr>
            <p:ph idx="114" type="body" hasCustomPrompt="1"/>
          </p:nvPr>
        </p:nvSpPr>
        <p:spPr>
          <a:xfrm>
            <a:off x="822960" y="1810512"/>
            <a:ext cx="1054608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Purpose / Inputs / Outputs / Limits / Validation / Owner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isk-Control Table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1091184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841248" y="1810512"/>
            <a:ext cx="10509504" cy="4434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 | Control | Owner | State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dings and Confidence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649224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52360" y="1627632"/>
            <a:ext cx="4099560" cy="4764024"/>
          </a:xfrm>
          <a:prstGeom prst="rect">
            <a:avLst/>
          </a:prstGeom>
          <a:solidFill>
            <a:srgbClr val="FBFB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>
            <p:ph idx="110" type="body" hasCustomPrompt="1"/>
          </p:nvPr>
        </p:nvSpPr>
        <p:spPr>
          <a:xfrm>
            <a:off x="859536" y="1828800"/>
            <a:ext cx="6035040" cy="436168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buSzPct val="100000"/>
              <a:buChar char="•"/>
              <a:def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bullet text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another bullet</a:t>
            </a:r>
            <a:endParaRPr lang="en-US" sz="1500" dirty="0"/>
          </a:p>
        </p:txBody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7662672" y="1856232"/>
            <a:ext cx="3642360" cy="43068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Confidence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Rationale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commended Action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10911840" cy="1417320"/>
          </a:xfrm>
          <a:prstGeom prst="rect">
            <a:avLst/>
          </a:prstGeom>
          <a:solidFill>
            <a:srgbClr val="FCE7DD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3364992"/>
            <a:ext cx="10911840" cy="302666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2" name="Text 9"/>
          <p:cNvSpPr/>
          <p:nvPr>
            <p:ph idx="110" type="body" hasCustomPrompt="1"/>
          </p:nvPr>
        </p:nvSpPr>
        <p:spPr>
          <a:xfrm>
            <a:off x="868680" y="1856232"/>
            <a:ext cx="104546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Recommended action</a:t>
            </a:r>
            <a:endParaRPr lang="en-US" sz="1600" dirty="0"/>
          </a:p>
        </p:txBody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868680" y="3593592"/>
            <a:ext cx="10454640" cy="261518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buSzPct val="100000"/>
              <a:buChar char="•"/>
              <a:def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bullet text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to add another bullet</a:t>
            </a:r>
            <a:endParaRPr lang="en-US" sz="1500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urce Appendix">
    <p:bg>
      <p:bgPr>
        <a:solidFill>
          <a:srgbClr val="F3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01168"/>
            <a:ext cx="36576" cy="182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1645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351520" y="1645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Intelligence · Data Fabric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11840" cy="0"/>
          </a:xfrm>
          <a:prstGeom prst="line">
            <a:avLst/>
          </a:prstGeom>
          <a:noFill/>
          <a:ln w="8890">
            <a:solidFill>
              <a:srgbClr val="DCD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329184" cy="0"/>
          </a:xfrm>
          <a:prstGeom prst="line">
            <a:avLst/>
          </a:prstGeom>
          <a:noFill/>
          <a:ln w="27940">
            <a:solidFill>
              <a:srgbClr val="F1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71600"/>
            <a:ext cx="329184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1627632"/>
            <a:ext cx="10911840" cy="4764024"/>
          </a:xfrm>
          <a:prstGeom prst="rect">
            <a:avLst/>
          </a:prstGeom>
          <a:solidFill>
            <a:srgbClr val="FBFBF9"/>
          </a:solidFill>
          <a:ln w="8890">
            <a:solidFill>
              <a:srgbClr val="DCDCD6"/>
            </a:solidFill>
            <a:prstDash val="solid"/>
          </a:ln>
        </p:spPr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841248" y="1810512"/>
            <a:ext cx="10509504" cy="4434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9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 ID | Type | Extracted item | Use | Restriction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bg>
      <p:bgPr>
        <a:solidFill>
          <a:srgbClr val="11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41832"/>
            <a:ext cx="45720" cy="384048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941832"/>
            <a:ext cx="457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1993392"/>
            <a:ext cx="64008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Section title</a:t>
            </a:r>
            <a:endParaRPr lang="en-US" sz="26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640080" y="2697480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Section description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640080" y="6537960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· Evidence and Human Systems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40080" y="1783080"/>
            <a:ext cx="6400800" cy="694944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Evidence and Human Systems</a:t>
            </a:r>
            <a:endParaRPr lang="en-US" sz="30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640080" y="2706624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Reusable presentation system for evidence-led human, operational, and technical narratives.</a:t>
            </a:r>
            <a:endParaRPr lang="en-US" sz="1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640080" y="33375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8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ForwardMeasure / v0.3.2 / Roboto + orange-teal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4044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Basic content</a:t>
            </a:r>
            <a:endParaRPr lang="en-US" sz="2400" dirty="0"/>
          </a:p>
        </p:txBody>
      </p:sp>
      <p:sp>
        <p:nvSpPr>
          <p:cNvPr id="3" name="Text 8"/>
          <p:cNvSpPr/>
          <p:nvPr>
            <p:ph idx="109" type="body" hasCustomPrompt="1"/>
          </p:nvPr>
        </p:nvSpPr>
        <p:spPr>
          <a:xfrm>
            <a:off x="841248" y="1810512"/>
            <a:ext cx="10509504" cy="44348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 bullet is a real editable bullet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Press Enter to create the next bullet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Tab and Shift+Tab for nested bullet levels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title, rule and content box share the same grid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14044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Two-column content</a:t>
            </a:r>
            <a:endParaRPr lang="en-US" sz="2400" dirty="0"/>
          </a:p>
        </p:txBody>
      </p:sp>
      <p:sp>
        <p:nvSpPr>
          <p:cNvPr id="3" name="Text 11"/>
          <p:cNvSpPr/>
          <p:nvPr>
            <p:ph idx="112" type="body" hasCustomPrompt="1"/>
          </p:nvPr>
        </p:nvSpPr>
        <p:spPr>
          <a:xfrm>
            <a:off x="841248" y="2139696"/>
            <a:ext cx="4898136" cy="408736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Left column bullet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Supporting point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Qualification</a:t>
            </a:r>
            <a:endParaRPr lang="en-US" sz="1500" dirty="0"/>
          </a:p>
        </p:txBody>
      </p:sp>
      <p:sp>
        <p:nvSpPr>
          <p:cNvPr id="4" name="Text 11"/>
          <p:cNvSpPr/>
          <p:nvPr>
            <p:ph idx="113" type="body" hasCustomPrompt="1"/>
          </p:nvPr>
        </p:nvSpPr>
        <p:spPr>
          <a:xfrm>
            <a:off x="6452616" y="2139696"/>
            <a:ext cx="4898136" cy="408736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Right column bullet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Decision or contrast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 step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14044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40080" y="199339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Intelligence briefing</a:t>
            </a:r>
            <a:endParaRPr lang="en-US" sz="26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640080" y="2697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858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Operational assessments, confidence language, and intelligence gaps.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4044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Executive assessment</a:t>
            </a:r>
            <a:endParaRPr lang="en-US" sz="2400" dirty="0"/>
          </a:p>
        </p:txBody>
      </p:sp>
      <p:sp>
        <p:nvSpPr>
          <p:cNvPr id="3" name="Text 11"/>
          <p:cNvSpPr/>
          <p:nvPr>
            <p:ph idx="112" type="body" hasCustomPrompt="1"/>
          </p:nvPr>
        </p:nvSpPr>
        <p:spPr>
          <a:xfrm>
            <a:off x="804672" y="1792224"/>
            <a:ext cx="48920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Evidence indicates recurrent use of shared addresses, phones, and payment rails.</a:t>
            </a:r>
            <a:endParaRPr lang="en-US" sz="1000" dirty="0"/>
          </a:p>
        </p:txBody>
      </p:sp>
      <p:sp>
        <p:nvSpPr>
          <p:cNvPr id="4" name="Text 11"/>
          <p:cNvSpPr/>
          <p:nvPr>
            <p:ph idx="113" type="body" hasCustomPrompt="1"/>
          </p:nvPr>
        </p:nvSpPr>
        <p:spPr>
          <a:xfrm>
            <a:off x="6416040" y="1792224"/>
            <a:ext cx="48920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 is consistent with coordinated facilitation rather than incidental overlap.</a:t>
            </a:r>
            <a:endParaRPr lang="en-US" sz="1000" dirty="0"/>
          </a:p>
        </p:txBody>
      </p:sp>
      <p:sp>
        <p:nvSpPr>
          <p:cNvPr id="5" name="Text 11"/>
          <p:cNvSpPr/>
          <p:nvPr>
            <p:ph idx="114" type="body" hasCustomPrompt="1"/>
          </p:nvPr>
        </p:nvSpPr>
        <p:spPr>
          <a:xfrm>
            <a:off x="804672" y="3127248"/>
            <a:ext cx="48920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Several entities may fragment activity and obscure beneficial control.</a:t>
            </a:r>
            <a:endParaRPr lang="en-US" sz="1000" dirty="0"/>
          </a:p>
        </p:txBody>
      </p:sp>
      <p:sp>
        <p:nvSpPr>
          <p:cNvPr id="6" name="Text 11"/>
          <p:cNvSpPr/>
          <p:nvPr>
            <p:ph idx="115" type="body" hasCustomPrompt="1"/>
          </p:nvPr>
        </p:nvSpPr>
        <p:spPr>
          <a:xfrm>
            <a:off x="6416040" y="3127248"/>
            <a:ext cx="489204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Prioritize graph expansion, source validation, and human review.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4044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Systems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984248" y="2880360"/>
            <a:ext cx="566928" cy="0"/>
          </a:xfrm>
          <a:prstGeom prst="line">
            <a:avLst/>
          </a:prstGeom>
          <a:noFill/>
          <a:ln w="12700">
            <a:solidFill>
              <a:srgbClr val="DCDCD6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3675888" y="2880360"/>
            <a:ext cx="566928" cy="0"/>
          </a:xfrm>
          <a:prstGeom prst="line">
            <a:avLst/>
          </a:prstGeom>
          <a:noFill/>
          <a:ln w="12700">
            <a:solidFill>
              <a:srgbClr val="DCDCD6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367528" y="2880360"/>
            <a:ext cx="566928" cy="0"/>
          </a:xfrm>
          <a:prstGeom prst="line">
            <a:avLst/>
          </a:prstGeom>
          <a:noFill/>
          <a:ln w="12700">
            <a:solidFill>
              <a:srgbClr val="DCDCD6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059168" y="2880360"/>
            <a:ext cx="566928" cy="0"/>
          </a:xfrm>
          <a:prstGeom prst="line">
            <a:avLst/>
          </a:prstGeom>
          <a:noFill/>
          <a:ln w="12700">
            <a:solidFill>
              <a:srgbClr val="DCDCD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750808" y="2880360"/>
            <a:ext cx="566928" cy="0"/>
          </a:xfrm>
          <a:prstGeom prst="line">
            <a:avLst/>
          </a:prstGeom>
          <a:noFill/>
          <a:ln w="12700">
            <a:solidFill>
              <a:srgbClr val="DCDCD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60120" y="2606040"/>
            <a:ext cx="1115568" cy="548640"/>
          </a:xfrm>
          <a:prstGeom prst="rect">
            <a:avLst/>
          </a:prstGeom>
          <a:solidFill>
            <a:srgbClr val="FBFBF9"/>
          </a:solidFill>
          <a:ln w="13970">
            <a:solidFill>
              <a:srgbClr val="315D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715768"/>
            <a:ext cx="93268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51760" y="2606040"/>
            <a:ext cx="1115568" cy="548640"/>
          </a:xfrm>
          <a:prstGeom prst="rect">
            <a:avLst/>
          </a:prstGeom>
          <a:solidFill>
            <a:srgbClr val="FBFBF9"/>
          </a:solidFill>
          <a:ln w="1397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2715768"/>
            <a:ext cx="93268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Normalize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343400" y="2606040"/>
            <a:ext cx="1115568" cy="548640"/>
          </a:xfrm>
          <a:prstGeom prst="rect">
            <a:avLst/>
          </a:prstGeom>
          <a:solidFill>
            <a:srgbClr val="FBFBF9"/>
          </a:solidFill>
          <a:ln w="13970">
            <a:solidFill>
              <a:srgbClr val="5252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2715768"/>
            <a:ext cx="93268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graph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35040" y="2606040"/>
            <a:ext cx="1115568" cy="548640"/>
          </a:xfrm>
          <a:prstGeom prst="rect">
            <a:avLst/>
          </a:prstGeom>
          <a:solidFill>
            <a:srgbClr val="FBFBF9"/>
          </a:solidFill>
          <a:ln w="13970">
            <a:solidFill>
              <a:srgbClr val="F15A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715768"/>
            <a:ext cx="93268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policy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726680" y="2606040"/>
            <a:ext cx="1115568" cy="548640"/>
          </a:xfrm>
          <a:prstGeom prst="rect">
            <a:avLst/>
          </a:prstGeom>
          <a:solidFill>
            <a:srgbClr val="FBFBF9"/>
          </a:solidFill>
          <a:ln w="13970">
            <a:solidFill>
              <a:srgbClr val="B882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2715768"/>
            <a:ext cx="93268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418320" y="2606040"/>
            <a:ext cx="1115568" cy="548640"/>
          </a:xfrm>
          <a:prstGeom prst="rect">
            <a:avLst/>
          </a:prstGeom>
          <a:solidFill>
            <a:srgbClr val="FBFBF9"/>
          </a:solidFill>
          <a:ln w="13970">
            <a:solidFill>
              <a:srgbClr val="1919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0" y="2715768"/>
            <a:ext cx="93268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record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14044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06</a:t>
            </a:r>
            <a:endParaRPr lang="en-US" sz="800" dirty="0"/>
          </a:p>
        </p:txBody>
      </p:sp>
      <p:sp>
        <p:nvSpPr>
          <p:cNvPr id="21" name="Text 8"/>
          <p:cNvSpPr/>
          <p:nvPr>
            <p:ph idx="109" type="body" hasCustomPrompt="1"/>
          </p:nvPr>
        </p:nvSpPr>
        <p:spPr>
          <a:xfrm>
            <a:off x="868680" y="1856232"/>
            <a:ext cx="10454640" cy="43068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title" hasCustomPrompt="1"/>
          </p:nvPr>
        </p:nvSpPr>
        <p:spPr>
          <a:xfrm>
            <a:off x="640080" y="530352"/>
            <a:ext cx="10911840" cy="749808"/>
          </a:xfrm>
          <a:prstGeom prst="rect">
            <a:avLst/>
          </a:prstGeom>
          <a:noFill/>
          <a:ln/>
        </p:spPr>
        <p:txBody>
          <a:bodyPr wrap="square" lIns="0" tIns="0" rIns="0" bIns="0" rtlCol="0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Template checks</a:t>
            </a:r>
            <a:endParaRPr lang="en-US" sz="2400" dirty="0"/>
          </a:p>
        </p:txBody>
      </p:sp>
      <p:sp>
        <p:nvSpPr>
          <p:cNvPr id="3" name="Text 8"/>
          <p:cNvSpPr/>
          <p:nvPr>
            <p:ph idx="109" type="body" hasCustomPrompt="1"/>
          </p:nvPr>
        </p:nvSpPr>
        <p:spPr>
          <a:xfrm>
            <a:off x="841248" y="1810512"/>
            <a:ext cx="10509504" cy="44348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Orange and teal motif preserved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Roboto used for titles and body text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Basic Content and Two-Column Content use editable bullets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Starter slides include visible page numbers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Layout menu contains the complete named layout family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140440" y="65379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9191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ForwardMeasure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ForwardMeasure Google Slides starter v0.3.2</dc:title>
  <dc:subject>Evidence and Human Systems v0.3.2</dc:subject>
  <dc:creator>ForwardMeasure</dc:creator>
  <cp:lastModifiedBy>ForwardMeasure</cp:lastModifiedBy>
  <cp:revision>1</cp:revision>
  <dcterms:created xsi:type="dcterms:W3CDTF">2026-08-03T16:46:26Z</dcterms:created>
  <dcterms:modified xsi:type="dcterms:W3CDTF">2026-08-03T16:46:26Z</dcterms:modified>
</cp:coreProperties>
</file>